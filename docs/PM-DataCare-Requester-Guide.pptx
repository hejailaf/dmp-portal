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icon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9601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14600"/>
            <a:ext cx="1036015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Segoe UI"/>
              </a:rPr>
              <a:t>PM </a:t>
            </a:r>
            <a:r>
              <a:rPr sz="4400" b="1">
                <a:solidFill>
                  <a:srgbClr val="2BC0AE"/>
                </a:solidFill>
                <a:latin typeface="Segoe UI"/>
              </a:rPr>
              <a:t>DataCare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01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8FA8C4"/>
                </a:solidFill>
                <a:latin typeface="Segoe UI"/>
              </a:rPr>
              <a:t>Caring for your SAP PM master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601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Requester walkthrough — create, fill, save, and submit a request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8FA8C4"/>
                </a:solidFill>
                <a:latin typeface="Segoe UI"/>
              </a:rP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0D3B66"/>
                </a:solidFill>
                <a:latin typeface="Segoe UI"/>
              </a:rPr>
              <a:t>Before you start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41732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F2F6FA"/>
          </a:solidFill>
          <a:ln w="9525">
            <a:solidFill>
              <a:srgbClr val="D6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800" y="1691640"/>
            <a:ext cx="402336" cy="402336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36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D3B66"/>
                </a:solidFill>
                <a:latin typeface="Segoe UI"/>
              </a:rPr>
              <a:t>Open the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0632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33475B"/>
                </a:solidFill>
                <a:latin typeface="Segoe UI"/>
              </a:rPr>
              <a:t>Use the site link shared by the Data Maintenance team in Edge or Chrome. Your Windows login signs you in automatically — no password.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41732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F2F6FA"/>
          </a:solidFill>
          <a:ln w="9525">
            <a:solidFill>
              <a:srgbClr val="D6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53712" y="1691640"/>
            <a:ext cx="402336" cy="402336"/>
          </a:xfrm>
          <a:prstGeom prst="ellipse">
            <a:avLst/>
          </a:prstGeom>
          <a:solidFill>
            <a:srgbClr val="00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9164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36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28600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D3B66"/>
                </a:solidFill>
                <a:latin typeface="Segoe UI"/>
              </a:rPr>
              <a:t>Check your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697480"/>
            <a:ext cx="30632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33475B"/>
                </a:solidFill>
                <a:latin typeface="Segoe UI"/>
              </a:rPr>
              <a:t>The home page greets you with your role badge. As a Requester you can create requests, track them, comment, and attach files.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47304" y="141732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F2F6FA"/>
          </a:solidFill>
          <a:ln w="9525">
            <a:solidFill>
              <a:srgbClr val="D6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21624" y="1691640"/>
            <a:ext cx="402336" cy="402336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21624" y="169164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36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1624" y="228600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D3B66"/>
                </a:solidFill>
                <a:latin typeface="Segoe UI"/>
              </a:rPr>
              <a:t>What happens after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1624" y="2697480"/>
            <a:ext cx="30632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33475B"/>
                </a:solidFill>
                <a:latin typeface="Segoe UI"/>
              </a:rPr>
              <a:t>The Data Maintenance team executes your request manually in SAP (Fiori MDG) and marks it Completed. You are emailed at the key steps.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663440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D3B66"/>
                </a:solidFill>
                <a:latin typeface="Segoe UI"/>
              </a:rPr>
              <a:t>Tip: </a:t>
            </a:r>
            <a:r>
              <a:rPr sz="1300" b="0">
                <a:solidFill>
                  <a:srgbClr val="607D8B"/>
                </a:solidFill>
                <a:latin typeface="Segoe UI"/>
              </a:rPr>
              <a:t>bookmark the site — the request you need is always two clicks away.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475488" cy="475488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" y="25603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0D3B66"/>
                </a:solidFill>
                <a:latin typeface="Segoe UI"/>
              </a:rPr>
              <a:t>Your home page</a:t>
            </a:r>
          </a:p>
        </p:txBody>
      </p:sp>
      <p:pic>
        <p:nvPicPr>
          <p:cNvPr id="5" name="Picture 4" descr="home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11368735" cy="377604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0120"/>
            <a:ext cx="11368735" cy="3776044"/>
          </a:xfrm>
          <a:prstGeom prst="rect">
            <a:avLst/>
          </a:prstGeom>
          <a:noFill/>
          <a:ln w="9525">
            <a:solidFill>
              <a:srgbClr val="C3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07953" y="919517"/>
            <a:ext cx="925739" cy="600918"/>
          </a:xfrm>
          <a:prstGeom prst="roundRect">
            <a:avLst>
              <a:gd name="adj" fmla="val 7608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078769" y="1082816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78769" y="10828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79552" y="2909046"/>
            <a:ext cx="1624105" cy="373544"/>
          </a:xfrm>
          <a:prstGeom prst="roundRect">
            <a:avLst>
              <a:gd name="adj" fmla="val 12239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50368" y="2958658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50368" y="295865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5298" y="919517"/>
            <a:ext cx="909498" cy="600918"/>
          </a:xfrm>
          <a:prstGeom prst="roundRect">
            <a:avLst>
              <a:gd name="adj" fmla="val 7608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26114" y="1082816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26114" y="108281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411480" y="5148072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514807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120640"/>
            <a:ext cx="519516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New request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starts a new change request (same as the blue button)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" y="5715000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7150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5687568"/>
            <a:ext cx="519516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Create a new request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the quickest way to begin</a:t>
            </a:r>
          </a:p>
        </p:txBody>
      </p:sp>
      <p:sp>
        <p:nvSpPr>
          <p:cNvPr id="22" name="Oval 21"/>
          <p:cNvSpPr/>
          <p:nvPr/>
        </p:nvSpPr>
        <p:spPr>
          <a:xfrm>
            <a:off x="6255867" y="5148072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5867" y="514807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5051" y="5120640"/>
            <a:ext cx="519516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My requests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everything you created — drafts, open, and finished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475488" cy="475488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" y="25603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0D3B66"/>
                </a:solidFill>
                <a:latin typeface="Segoe UI"/>
              </a:rPr>
              <a:t>Start with a clear description</a:t>
            </a:r>
          </a:p>
        </p:txBody>
      </p:sp>
      <p:pic>
        <p:nvPicPr>
          <p:cNvPr id="5" name="Picture 4" descr="new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11368735" cy="35730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0120"/>
            <a:ext cx="11368735" cy="3573031"/>
          </a:xfrm>
          <a:prstGeom prst="rect">
            <a:avLst/>
          </a:prstGeom>
          <a:noFill/>
          <a:ln w="9525">
            <a:solidFill>
              <a:srgbClr val="C3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0805" y="2421814"/>
            <a:ext cx="6057911" cy="406026"/>
          </a:xfrm>
          <a:prstGeom prst="roundRect">
            <a:avLst>
              <a:gd name="adj" fmla="val 11260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1621" y="2487667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621" y="248766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26235" y="2503019"/>
            <a:ext cx="324821" cy="243615"/>
          </a:xfrm>
          <a:prstGeom prst="roundRect">
            <a:avLst>
              <a:gd name="adj" fmla="val 18767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05920" y="2487667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5920" y="248766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854" y="3006492"/>
            <a:ext cx="3410620" cy="373544"/>
          </a:xfrm>
          <a:prstGeom prst="roundRect">
            <a:avLst>
              <a:gd name="adj" fmla="val 12239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9670" y="3056104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9670" y="30561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411480" y="4919472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91947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892040"/>
            <a:ext cx="51951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Request description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one line saying WHAT and WHY — e.g. "Create SCBA Equipment at WIP Area" or an MOC/work-order reference. Required before you can submit.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" y="5788152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78815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5760720"/>
            <a:ext cx="51951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Character counter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keep it short — 60 characters max</a:t>
            </a:r>
          </a:p>
        </p:txBody>
      </p:sp>
      <p:sp>
        <p:nvSpPr>
          <p:cNvPr id="22" name="Oval 21"/>
          <p:cNvSpPr/>
          <p:nvPr/>
        </p:nvSpPr>
        <p:spPr>
          <a:xfrm>
            <a:off x="6255867" y="4919472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5867" y="491947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5051" y="4892040"/>
            <a:ext cx="51951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Object type tabs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pick where your changes belong: Equipment, Functional Locations, BOM Linkage, or PM. One request can use several tabs.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475488" cy="475488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" y="25603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0D3B66"/>
                </a:solidFill>
                <a:latin typeface="Segoe UI"/>
              </a:rPr>
              <a:t>Add and fill your line items</a:t>
            </a:r>
          </a:p>
        </p:txBody>
      </p:sp>
      <p:pic>
        <p:nvPicPr>
          <p:cNvPr id="5" name="Picture 4" descr="draft-edi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11368735" cy="377604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0120"/>
            <a:ext cx="11368735" cy="3776044"/>
          </a:xfrm>
          <a:prstGeom prst="rect">
            <a:avLst/>
          </a:prstGeom>
          <a:noFill/>
          <a:ln w="9525">
            <a:solidFill>
              <a:srgbClr val="C3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8854" y="3396277"/>
            <a:ext cx="852655" cy="341062"/>
          </a:xfrm>
          <a:prstGeom prst="roundRect">
            <a:avLst>
              <a:gd name="adj" fmla="val 13405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09670" y="3429648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9670" y="3429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56014" y="3989075"/>
            <a:ext cx="828293" cy="341062"/>
          </a:xfrm>
          <a:prstGeom prst="roundRect">
            <a:avLst>
              <a:gd name="adj" fmla="val 13405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6830" y="4022446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6830" y="402244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63622" y="3989075"/>
            <a:ext cx="1015065" cy="341062"/>
          </a:xfrm>
          <a:prstGeom prst="roundRect">
            <a:avLst>
              <a:gd name="adj" fmla="val 13405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33551" y="4022446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3551" y="402244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411480" y="5148072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514807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120640"/>
            <a:ext cx="519516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Add line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one row per SAP object you want changed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" y="5879592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87959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5852159"/>
            <a:ext cx="519516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Action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Add, Change, or Delete — it decides which cells matter</a:t>
            </a:r>
          </a:p>
        </p:txBody>
      </p:sp>
      <p:sp>
        <p:nvSpPr>
          <p:cNvPr id="22" name="Oval 21"/>
          <p:cNvSpPr/>
          <p:nvPr/>
        </p:nvSpPr>
        <p:spPr>
          <a:xfrm>
            <a:off x="6255867" y="5148072"/>
            <a:ext cx="237744" cy="237744"/>
          </a:xfrm>
          <a:prstGeom prst="ellipse">
            <a:avLst/>
          </a:prstGeom>
          <a:solidFill>
            <a:srgbClr val="E19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5867" y="514807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5051" y="5120640"/>
            <a:ext cx="519516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Highlighted (amber) cells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mandatory for that action — fill them all. Grey cells don’t apply and stay locked.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475488" cy="475488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" y="25603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0D3B66"/>
                </a:solidFill>
                <a:latin typeface="Segoe UI"/>
              </a:rPr>
              <a:t>Working with many lines? Use Excel</a:t>
            </a:r>
          </a:p>
        </p:txBody>
      </p:sp>
      <p:pic>
        <p:nvPicPr>
          <p:cNvPr id="5" name="Picture 4" descr="draft-edi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11368735" cy="377604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0120"/>
            <a:ext cx="11368735" cy="3776044"/>
          </a:xfrm>
          <a:prstGeom prst="rect">
            <a:avLst/>
          </a:prstGeom>
          <a:noFill/>
          <a:ln w="9525">
            <a:solidFill>
              <a:srgbClr val="C3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07494" y="3396277"/>
            <a:ext cx="1599743" cy="341062"/>
          </a:xfrm>
          <a:prstGeom prst="roundRect">
            <a:avLst>
              <a:gd name="adj" fmla="val 13405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78310" y="3429648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78310" y="3429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31599" y="3396277"/>
            <a:ext cx="1266801" cy="341062"/>
          </a:xfrm>
          <a:prstGeom prst="roundRect">
            <a:avLst>
              <a:gd name="adj" fmla="val 13405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053265" y="3429648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53265" y="3429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83389" y="3396277"/>
            <a:ext cx="1648466" cy="341062"/>
          </a:xfrm>
          <a:prstGeom prst="roundRect">
            <a:avLst>
              <a:gd name="adj" fmla="val 13405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4205" y="3429648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54205" y="3429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411480" y="4919472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91947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892040"/>
            <a:ext cx="51951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Download Excel template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a ready-made sheet for the current tab — amber headers mark mandatory columns, dropdowns match the app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" y="5788152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78815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5760720"/>
            <a:ext cx="51951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Import from Excel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brings your filled rows back in and validates every cell</a:t>
            </a:r>
          </a:p>
        </p:txBody>
      </p:sp>
      <p:sp>
        <p:nvSpPr>
          <p:cNvPr id="22" name="Oval 21"/>
          <p:cNvSpPr/>
          <p:nvPr/>
        </p:nvSpPr>
        <p:spPr>
          <a:xfrm>
            <a:off x="6255867" y="4919472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5867" y="491947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5051" y="4892040"/>
            <a:ext cx="51951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Duplicate / Delete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tick lines with the checkboxes, then copy or remove them in bulk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475488" cy="475488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" y="25603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0D3B66"/>
                </a:solidFill>
                <a:latin typeface="Segoe UI"/>
              </a:rPr>
              <a:t>Not finished? Save it as a draft</a:t>
            </a:r>
          </a:p>
        </p:txBody>
      </p:sp>
      <p:pic>
        <p:nvPicPr>
          <p:cNvPr id="5" name="Picture 4" descr="draft-detail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7131092" cy="3794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0120"/>
            <a:ext cx="7131092" cy="3794760"/>
          </a:xfrm>
          <a:prstGeom prst="rect">
            <a:avLst/>
          </a:prstGeom>
          <a:noFill/>
          <a:ln w="9525">
            <a:solidFill>
              <a:srgbClr val="C3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8371" y="1775102"/>
            <a:ext cx="845543" cy="173183"/>
          </a:xfrm>
          <a:prstGeom prst="roundRect">
            <a:avLst>
              <a:gd name="adj" fmla="val 26399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9187" y="1724533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9187" y="1724533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6691" y="1387985"/>
            <a:ext cx="646891" cy="254681"/>
          </a:xfrm>
          <a:prstGeom prst="roundRect">
            <a:avLst>
              <a:gd name="adj" fmla="val 17951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077507" y="1378166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7507" y="137816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3396" y="1387985"/>
            <a:ext cx="443146" cy="254681"/>
          </a:xfrm>
          <a:prstGeom prst="roundRect">
            <a:avLst>
              <a:gd name="adj" fmla="val 17951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541406" y="1378166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1406" y="137816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411480" y="5056632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505663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029200"/>
            <a:ext cx="5195163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Draft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private to you — nobody works on it yet, nothing is validated. Find it any time under My requests.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" y="5833872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83387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5806440"/>
            <a:ext cx="5195163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Edit draft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reopens the editor exactly where you left off</a:t>
            </a:r>
          </a:p>
        </p:txBody>
      </p:sp>
      <p:sp>
        <p:nvSpPr>
          <p:cNvPr id="22" name="Oval 21"/>
          <p:cNvSpPr/>
          <p:nvPr/>
        </p:nvSpPr>
        <p:spPr>
          <a:xfrm>
            <a:off x="6255867" y="5056632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5867" y="505663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5051" y="5029200"/>
            <a:ext cx="5195163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Submit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you can also submit straight from this page when it’s ready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475488" cy="475488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" y="25603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0D3B66"/>
                </a:solidFill>
                <a:latin typeface="Segoe UI"/>
              </a:rPr>
              <a:t>Submit when everything is ready</a:t>
            </a:r>
          </a:p>
        </p:txBody>
      </p:sp>
      <p:pic>
        <p:nvPicPr>
          <p:cNvPr id="5" name="Picture 4" descr="draft-edi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9360309" cy="3108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0120"/>
            <a:ext cx="9360309" cy="3108960"/>
          </a:xfrm>
          <a:prstGeom prst="rect">
            <a:avLst/>
          </a:prstGeom>
          <a:noFill/>
          <a:ln w="9525">
            <a:solidFill>
              <a:srgbClr val="C3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68899" y="1575226"/>
            <a:ext cx="929345" cy="334296"/>
          </a:xfrm>
          <a:prstGeom prst="roundRect">
            <a:avLst>
              <a:gd name="adj" fmla="val 13676"/>
            </a:avLst>
          </a:prstGeom>
          <a:noFill/>
          <a:ln w="28575">
            <a:solidFill>
              <a:srgbClr val="00A7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39715" y="1605214"/>
            <a:ext cx="274320" cy="274320"/>
          </a:xfrm>
          <a:prstGeom prst="ellipse">
            <a:avLst/>
          </a:prstGeom>
          <a:solidFill>
            <a:srgbClr val="00A79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39715" y="160521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4434840"/>
            <a:ext cx="11375136" cy="1828800"/>
          </a:xfrm>
          <a:prstGeom prst="roundRect">
            <a:avLst>
              <a:gd name="adj" fmla="val 4500"/>
            </a:avLst>
          </a:prstGeom>
          <a:solidFill>
            <a:srgbClr val="FBF1DE"/>
          </a:solidFill>
          <a:ln w="9525">
            <a:solidFill>
              <a:srgbClr val="E9C9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617720"/>
            <a:ext cx="107899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0D3B66"/>
                </a:solidFill>
                <a:latin typeface="Segoe UI"/>
              </a:rPr>
              <a:t>The app checks your request first. </a:t>
            </a:r>
            <a:r>
              <a:rPr sz="1450" b="0">
                <a:solidFill>
                  <a:srgbClr val="33475B"/>
                </a:solidFill>
                <a:latin typeface="Segoe UI"/>
              </a:rPr>
              <a:t>If the description is missing or any amber cell is empty or invalid, a red box lists exactly what to fix and jumps to the right tab. Untouched empty lines are removed automatically — no need to tidy them. After a successful submit the request moves to </a:t>
            </a:r>
            <a:r>
              <a:rPr sz="1450" b="1">
                <a:solidFill>
                  <a:srgbClr val="E19A2F"/>
                </a:solidFill>
                <a:latin typeface="Segoe UI"/>
              </a:rPr>
              <a:t>Waiting to be started</a:t>
            </a:r>
            <a:r>
              <a:rPr sz="1450" b="0">
                <a:solidFill>
                  <a:srgbClr val="33475B"/>
                </a:solidFill>
                <a:latin typeface="Segoe UI"/>
              </a:rPr>
              <a:t> and the Data Maintenance team is notified by email.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475488" cy="475488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" y="25603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0D3B66"/>
                </a:solidFill>
                <a:latin typeface="Segoe UI"/>
              </a:rPr>
              <a:t>After you submit — track it here</a:t>
            </a:r>
          </a:p>
        </p:txBody>
      </p:sp>
      <p:pic>
        <p:nvPicPr>
          <p:cNvPr id="5" name="Picture 4" descr="submitted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9406581" cy="397763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0120"/>
            <a:ext cx="9406581" cy="3977639"/>
          </a:xfrm>
          <a:prstGeom prst="rect">
            <a:avLst/>
          </a:prstGeom>
          <a:noFill/>
          <a:ln w="9525">
            <a:solidFill>
              <a:srgbClr val="C3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64791" y="2035157"/>
            <a:ext cx="1115351" cy="228445"/>
          </a:xfrm>
          <a:prstGeom prst="roundRect">
            <a:avLst>
              <a:gd name="adj" fmla="val 20013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5607" y="2012220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5607" y="20122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3581" y="2035157"/>
            <a:ext cx="739088" cy="228445"/>
          </a:xfrm>
          <a:prstGeom prst="roundRect">
            <a:avLst>
              <a:gd name="adj" fmla="val 20013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87533" y="2012220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87533" y="20122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35175" y="2586114"/>
            <a:ext cx="1767093" cy="369544"/>
          </a:xfrm>
          <a:prstGeom prst="roundRect">
            <a:avLst>
              <a:gd name="adj" fmla="val 12371"/>
            </a:avLst>
          </a:prstGeom>
          <a:noFill/>
          <a:ln w="28575">
            <a:solidFill>
              <a:srgbClr val="1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405991" y="2633726"/>
            <a:ext cx="274320" cy="274320"/>
          </a:xfrm>
          <a:prstGeom prst="ellipse">
            <a:avLst/>
          </a:prstGeom>
          <a:solidFill>
            <a:srgbClr val="1E63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5991" y="263372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411480" y="5285232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528523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257800"/>
            <a:ext cx="519516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Status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Waiting → In process → Completed (you get an email when it’s done or rejected)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" y="5943600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436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5916168"/>
            <a:ext cx="519516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Due countdown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the team’s SLA deadline for your request</a:t>
            </a:r>
          </a:p>
        </p:txBody>
      </p:sp>
      <p:sp>
        <p:nvSpPr>
          <p:cNvPr id="22" name="Oval 21"/>
          <p:cNvSpPr/>
          <p:nvPr/>
        </p:nvSpPr>
        <p:spPr>
          <a:xfrm>
            <a:off x="6255867" y="5285232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5867" y="5285232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5051" y="5257800"/>
            <a:ext cx="519516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Due date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computed from your line actions when you submit</a:t>
            </a:r>
          </a:p>
        </p:txBody>
      </p:sp>
      <p:sp>
        <p:nvSpPr>
          <p:cNvPr id="25" name="Oval 24"/>
          <p:cNvSpPr/>
          <p:nvPr/>
        </p:nvSpPr>
        <p:spPr>
          <a:xfrm>
            <a:off x="6255867" y="5943600"/>
            <a:ext cx="237744" cy="237744"/>
          </a:xfrm>
          <a:prstGeom prst="ellipse">
            <a:avLst/>
          </a:prstGeom>
          <a:solidFill>
            <a:srgbClr val="1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5867" y="59436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5051" y="5916168"/>
            <a:ext cx="519516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D3B66"/>
                </a:solidFill>
                <a:latin typeface="Segoe UI"/>
              </a:rPr>
              <a:t>Comments &amp; attachments</a:t>
            </a:r>
            <a:r>
              <a:rPr sz="1250" b="0">
                <a:solidFill>
                  <a:srgbClr val="33475B"/>
                </a:solidFill>
                <a:latin typeface="Segoe UI"/>
              </a:rPr>
              <a:t> — talk to the team and add supporting files right on this page — any time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57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Good to know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371600"/>
            <a:ext cx="5440680" cy="1554480"/>
          </a:xfrm>
          <a:prstGeom prst="roundRect">
            <a:avLst>
              <a:gd name="adj" fmla="val 5294"/>
            </a:avLst>
          </a:prstGeom>
          <a:solidFill>
            <a:srgbClr val="13314F"/>
          </a:solidFill>
          <a:ln w="9525">
            <a:solidFill>
              <a:srgbClr val="2E51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53619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BC0AE"/>
                </a:solidFill>
                <a:latin typeface="Segoe UI"/>
              </a:rPr>
              <a:t>Rejected?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883664"/>
            <a:ext cx="492861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2D4E4"/>
                </a:solidFill>
                <a:latin typeface="Segoe UI"/>
              </a:rPr>
              <a:t>You’ll get the reason by email and on the request page. Click Reopen — it becomes your draft again; fix and resubmit.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440680" cy="1554480"/>
          </a:xfrm>
          <a:prstGeom prst="roundRect">
            <a:avLst>
              <a:gd name="adj" fmla="val 5294"/>
            </a:avLst>
          </a:prstGeom>
          <a:solidFill>
            <a:srgbClr val="13314F"/>
          </a:solidFill>
          <a:ln w="9525">
            <a:solidFill>
              <a:srgbClr val="2E51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65392" y="153619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BC0AE"/>
                </a:solidFill>
                <a:latin typeface="Segoe UI"/>
              </a:rPr>
              <a:t>Attachments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392" y="1883664"/>
            <a:ext cx="492861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2D4E4"/>
                </a:solidFill>
                <a:latin typeface="Segoe UI"/>
              </a:rPr>
              <a:t>PDF, images, emails, and Office files, up to 100 MB, max 6 per request. Picked files upload only when you press Upload — remove wrong picks freely before that.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154680"/>
            <a:ext cx="5440680" cy="1554480"/>
          </a:xfrm>
          <a:prstGeom prst="roundRect">
            <a:avLst>
              <a:gd name="adj" fmla="val 5294"/>
            </a:avLst>
          </a:prstGeom>
          <a:solidFill>
            <a:srgbClr val="13314F"/>
          </a:solidFill>
          <a:ln w="9525">
            <a:solidFill>
              <a:srgbClr val="2E51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331927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BC0AE"/>
                </a:solidFill>
                <a:latin typeface="Segoe UI"/>
              </a:rPr>
              <a:t>Descriptions matter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666744"/>
            <a:ext cx="492861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2D4E4"/>
                </a:solidFill>
                <a:latin typeface="Segoe UI"/>
              </a:rPr>
              <a:t>A clear one-line description with your MOC or work-order number is the fastest way to get your request understood and done.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3154680"/>
            <a:ext cx="5440680" cy="1554480"/>
          </a:xfrm>
          <a:prstGeom prst="roundRect">
            <a:avLst>
              <a:gd name="adj" fmla="val 5294"/>
            </a:avLst>
          </a:prstGeom>
          <a:solidFill>
            <a:srgbClr val="13314F"/>
          </a:solidFill>
          <a:ln w="9525">
            <a:solidFill>
              <a:srgbClr val="2E51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331927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BC0AE"/>
                </a:solidFill>
                <a:latin typeface="Segoe UI"/>
              </a:rPr>
              <a:t>Drafts are private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3666744"/>
            <a:ext cx="492861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2D4E4"/>
                </a:solidFill>
                <a:latin typeface="Segoe UI"/>
              </a:rPr>
              <a:t>Only you (and admins) can see your drafts. Everything else on the site is visible to the team.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Questions or problems?  </a:t>
            </a:r>
            <a:r>
              <a:rPr sz="1400" b="0">
                <a:solidFill>
                  <a:srgbClr val="8FA8C4"/>
                </a:solidFill>
                <a:latin typeface="Segoe UI"/>
              </a:rPr>
              <a:t>Abdullah F. Alharbi · abdullah.hejaili@aramco.com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