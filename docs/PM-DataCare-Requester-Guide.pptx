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jai\AppData\Local\Temp\claude\C--ClaudeProjects-DMP-SharePoint\b9607570-05e3-4446-957e-49d0d1ed6843\scratchpad\deck\logo-icon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9601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</a:t>
            </a:r>
            <a:pPr algn="ctr" indent="0" marL="0">
              <a:buNone/>
            </a:pPr>
            <a:r>
              <a:rPr lang="en-US" sz="4400" b="1" dirty="0">
                <a:solidFill>
                  <a:srgbClr val="2BC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DataCare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2918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Caring for your SAP PM master data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Requester walkthrough — create, fill, save, and submit a request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start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417320"/>
            <a:ext cx="3611880" cy="2834640"/>
          </a:xfrm>
          <a:prstGeom prst="ROUNDED_RECTANGLE">
            <a:avLst>
              <a:gd name="adj" fmla="val 2903"/>
            </a:avLst>
          </a:prstGeom>
          <a:solidFill>
            <a:srgbClr val="F2F6FA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402336" cy="402336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portal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site link shared by the Data Maintenance team in Edge or Chrome. Your Windows login signs you in automatically — no password.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611880" cy="2834640"/>
          </a:xfrm>
          <a:prstGeom prst="ROUNDED_RECTANGLE">
            <a:avLst>
              <a:gd name="adj" fmla="val 2903"/>
            </a:avLst>
          </a:prstGeom>
          <a:solidFill>
            <a:srgbClr val="F2F6FA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691640"/>
            <a:ext cx="402336" cy="402336"/>
          </a:xfrm>
          <a:prstGeom prst="OVAL">
            <a:avLst/>
          </a:prstGeom>
          <a:solidFill>
            <a:srgbClr val="00A79D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your role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home page greets you with your role badge. As a Requester you can create requests, track them, comment, and attach files.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3611880" cy="2834640"/>
          </a:xfrm>
          <a:prstGeom prst="ROUNDED_RECTANGLE">
            <a:avLst>
              <a:gd name="adj" fmla="val 2903"/>
            </a:avLst>
          </a:prstGeom>
          <a:solidFill>
            <a:srgbClr val="F2F6FA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1691640"/>
            <a:ext cx="402336" cy="402336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after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21624" y="2697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Maintenance team executes your request manually in SAP (Fiori MDG) and marks it Completed. You are emailed at the key steps.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46634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 </a:t>
            </a:r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bookmark the site — the request you need is always two clicks away.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home page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hom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68735" cy="3776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11368735" cy="3776044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07954" y="919517"/>
            <a:ext cx="925740" cy="600919"/>
          </a:xfrm>
          <a:prstGeom prst="ROUNDED_RECTANGLE">
            <a:avLst>
              <a:gd name="adj" fmla="val 6087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78770" y="1082817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8770" y="1082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579553" y="2909046"/>
            <a:ext cx="1624105" cy="373544"/>
          </a:xfrm>
          <a:prstGeom prst="ROUNDED_RECTANGLE">
            <a:avLst>
              <a:gd name="adj" fmla="val 979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50369" y="2958658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50369" y="29586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55299" y="919517"/>
            <a:ext cx="909499" cy="600919"/>
          </a:xfrm>
          <a:prstGeom prst="ROUNDED_RECTANGLE">
            <a:avLst>
              <a:gd name="adj" fmla="val 6087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26115" y="1082817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26115" y="1082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51480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" y="5120640"/>
            <a:ext cx="51951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request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starts a new change request (same as the blue button)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715000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715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" y="5687568"/>
            <a:ext cx="51951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request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quickest way to begin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55868" y="51480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3" name="Text 20"/>
          <p:cNvSpPr/>
          <p:nvPr/>
        </p:nvSpPr>
        <p:spPr>
          <a:xfrm>
            <a:off x="6255868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5052" y="5120640"/>
            <a:ext cx="51951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requests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everything you created — drafts, open, and finished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 clear description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new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68735" cy="35730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11368735" cy="3573031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06" y="2421815"/>
            <a:ext cx="6057912" cy="406026"/>
          </a:xfrm>
          <a:prstGeom prst="ROUNDED_RECTANGLE">
            <a:avLst>
              <a:gd name="adj" fmla="val 9008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1622" y="2487668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1622" y="24876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26235" y="2503020"/>
            <a:ext cx="324821" cy="243616"/>
          </a:xfrm>
          <a:prstGeom prst="ROUNDED_RECTANGLE">
            <a:avLst>
              <a:gd name="adj" fmla="val 1501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5920" y="2487668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5920" y="24876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8855" y="3006492"/>
            <a:ext cx="3410621" cy="373544"/>
          </a:xfrm>
          <a:prstGeom prst="ROUNDED_RECTANGLE">
            <a:avLst>
              <a:gd name="adj" fmla="val 979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9671" y="3056104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9671" y="3056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49194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" y="4892040"/>
            <a:ext cx="5195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description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one line saying WHAT and WHY — e.g. "Create SCBA Equipment at WIP Area" or an MOC/work-order reference. Required before you can submit.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78815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788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" y="5760720"/>
            <a:ext cx="5195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Character counter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keep it short — 60 characters max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55868" y="49194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3" name="Text 20"/>
          <p:cNvSpPr/>
          <p:nvPr/>
        </p:nvSpPr>
        <p:spPr>
          <a:xfrm>
            <a:off x="6255868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5052" y="4892040"/>
            <a:ext cx="5195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type tabs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pick where your changes belong: Equipment, Functional Locations, BOM Linkage, or PM. One request can use several tabs.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and fill your line items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draft-edi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68735" cy="3776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11368735" cy="3776044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8855" y="3396278"/>
            <a:ext cx="852655" cy="341062"/>
          </a:xfrm>
          <a:prstGeom prst="ROUNDED_RECTANGLE">
            <a:avLst>
              <a:gd name="adj" fmla="val 107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9671" y="3429649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9671" y="3429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56015" y="3989076"/>
            <a:ext cx="828294" cy="341062"/>
          </a:xfrm>
          <a:prstGeom prst="ROUNDED_RECTANGLE">
            <a:avLst>
              <a:gd name="adj" fmla="val 107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6831" y="4022447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6831" y="40224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63622" y="3989076"/>
            <a:ext cx="1015066" cy="341062"/>
          </a:xfrm>
          <a:prstGeom prst="ROUNDED_RECTANGLE">
            <a:avLst>
              <a:gd name="adj" fmla="val 107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33552" y="4022447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3552" y="40224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51480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" y="5120640"/>
            <a:ext cx="51951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line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one row per SAP object you want changed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87959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879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" y="5852160"/>
            <a:ext cx="51951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Add, Change, or Delete — it decides which cells matter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55868" y="5148072"/>
            <a:ext cx="237744" cy="237744"/>
          </a:xfrm>
          <a:prstGeom prst="OVAL">
            <a:avLst/>
          </a:prstGeom>
          <a:solidFill>
            <a:srgbClr val="E19A2F"/>
          </a:solidFill>
          <a:ln/>
        </p:spPr>
      </p:sp>
      <p:sp>
        <p:nvSpPr>
          <p:cNvPr id="23" name="Text 20"/>
          <p:cNvSpPr/>
          <p:nvPr/>
        </p:nvSpPr>
        <p:spPr>
          <a:xfrm>
            <a:off x="6255868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5052" y="5120640"/>
            <a:ext cx="51951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Highlighted (amber) cells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mandatory for that action — fill them all. Grey cells don’t apply and stay locked.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with many lines? Use Excel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draft-edi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68735" cy="3776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11368735" cy="3776044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107494" y="3396278"/>
            <a:ext cx="1599743" cy="341062"/>
          </a:xfrm>
          <a:prstGeom prst="ROUNDED_RECTANGLE">
            <a:avLst>
              <a:gd name="adj" fmla="val 107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78310" y="3429649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78310" y="3429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1599" y="3396278"/>
            <a:ext cx="1266802" cy="341062"/>
          </a:xfrm>
          <a:prstGeom prst="ROUNDED_RECTANGLE">
            <a:avLst>
              <a:gd name="adj" fmla="val 107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53265" y="3429649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265" y="3429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483389" y="3396278"/>
            <a:ext cx="1648467" cy="341062"/>
          </a:xfrm>
          <a:prstGeom prst="ROUNDED_RECTANGLE">
            <a:avLst>
              <a:gd name="adj" fmla="val 107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4205" y="3429649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4205" y="3429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49194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" y="4892040"/>
            <a:ext cx="5195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Excel template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ready-made sheet for the current tab — amber headers mark mandatory columns, dropdowns match the app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78815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788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" y="5760720"/>
            <a:ext cx="5195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from Excel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brings your filled rows back in and validates every cell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55868" y="49194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3" name="Text 20"/>
          <p:cNvSpPr/>
          <p:nvPr/>
        </p:nvSpPr>
        <p:spPr>
          <a:xfrm>
            <a:off x="6255868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5052" y="4892040"/>
            <a:ext cx="51951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/ Delete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tick lines with the checkboxes, then copy or remove them in bulk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finished? Save it as a draft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draft-detail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7131093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7131093" cy="3794760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8372" y="1775102"/>
            <a:ext cx="845544" cy="173184"/>
          </a:xfrm>
          <a:prstGeom prst="ROUNDED_RECTANGLE">
            <a:avLst>
              <a:gd name="adj" fmla="val 21120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9188" y="1724534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9188" y="17245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6691" y="1387986"/>
            <a:ext cx="646892" cy="254682"/>
          </a:xfrm>
          <a:prstGeom prst="ROUNDED_RECTANGLE">
            <a:avLst>
              <a:gd name="adj" fmla="val 14361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77507" y="1378166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7507" y="13781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43396" y="1387986"/>
            <a:ext cx="443146" cy="254682"/>
          </a:xfrm>
          <a:prstGeom prst="ROUNDED_RECTANGLE">
            <a:avLst>
              <a:gd name="adj" fmla="val 14361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41407" y="1378166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41407" y="13781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505663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5056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" y="5029200"/>
            <a:ext cx="51951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private to you — nobody works on it yet, nothing is validated. Find it any time under My requests.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83387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833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" y="5806440"/>
            <a:ext cx="51951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draft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reopens the editor exactly where you left off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55868" y="505663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3" name="Text 20"/>
          <p:cNvSpPr/>
          <p:nvPr/>
        </p:nvSpPr>
        <p:spPr>
          <a:xfrm>
            <a:off x="6255868" y="5056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5052" y="5029200"/>
            <a:ext cx="51951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you can also submit straight from this page when it’s ready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when everything is ready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draft-edi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936031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9360310" cy="3108960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68899" y="1575226"/>
            <a:ext cx="929345" cy="334297"/>
          </a:xfrm>
          <a:prstGeom prst="ROUNDED_RECTANGLE">
            <a:avLst>
              <a:gd name="adj" fmla="val 10941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A79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39715" y="1605214"/>
            <a:ext cx="274320" cy="274320"/>
          </a:xfrm>
          <a:prstGeom prst="OVAL">
            <a:avLst/>
          </a:prstGeom>
          <a:solidFill>
            <a:srgbClr val="00A7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9715" y="16052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4434840"/>
            <a:ext cx="11375136" cy="1828800"/>
          </a:xfrm>
          <a:prstGeom prst="ROUNDED_RECTANGLE">
            <a:avLst>
              <a:gd name="adj" fmla="val 4500"/>
            </a:avLst>
          </a:prstGeom>
          <a:solidFill>
            <a:srgbClr val="FBF1DE"/>
          </a:solidFill>
          <a:ln w="9525">
            <a:solidFill>
              <a:srgbClr val="E9C9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617720"/>
            <a:ext cx="10789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checks your request first. </a:t>
            </a:r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description is missing or any amber cell is empty or invalid, a red box lists exactly what to fix and jumps to the right tab. Untouched empty lines are removed automatically — no need to tidy them. After a successful submit the request moves to </a:t>
            </a:r>
            <a:pPr indent="0" marL="0">
              <a:buNone/>
            </a:pPr>
            <a:r>
              <a:rPr lang="en-US" sz="1450" b="1" dirty="0">
                <a:solidFill>
                  <a:srgbClr val="E19A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to be started</a:t>
            </a:r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Data Maintenance team is notified by email.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75488" cy="475488"/>
          </a:xfrm>
          <a:prstGeom prst="ROUNDED_RECTANGLE">
            <a:avLst>
              <a:gd name="adj" fmla="val 50000"/>
            </a:avLst>
          </a:prstGeom>
          <a:solidFill>
            <a:srgbClr val="1E63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" y="256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you submit — track it here</a:t>
            </a:r>
            <a:endParaRPr lang="en-US" sz="2700" dirty="0"/>
          </a:p>
        </p:txBody>
      </p:sp>
      <p:pic>
        <p:nvPicPr>
          <p:cNvPr id="5" name="Image 0" descr="C:\Users\hejai\AppData\Local\Temp\claude\C--ClaudeProjects-DMP-SharePoint\b9607570-05e3-4446-957e-49d0d1ed6843\scratchpad\deck\submitted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9406581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60120"/>
            <a:ext cx="9406581" cy="3977640"/>
          </a:xfrm>
          <a:prstGeom prst="RECTANGLE">
            <a:avLst/>
          </a:prstGeom>
          <a:solidFill>
            <a:srgbClr val="FFFFFF">
              <a:alpha val="0"/>
            </a:srgbClr>
          </a:solidFill>
          <a:ln w="9525">
            <a:solidFill>
              <a:srgbClr val="C3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64791" y="2035158"/>
            <a:ext cx="1115352" cy="228446"/>
          </a:xfrm>
          <a:prstGeom prst="ROUNDED_RECTANGLE">
            <a:avLst>
              <a:gd name="adj" fmla="val 16011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5607" y="2012221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5607" y="20122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93581" y="2035158"/>
            <a:ext cx="739089" cy="228446"/>
          </a:xfrm>
          <a:prstGeom prst="ROUNDED_RECTANGLE">
            <a:avLst>
              <a:gd name="adj" fmla="val 16011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7534" y="2012221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87534" y="20122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35175" y="2586115"/>
            <a:ext cx="1767093" cy="369544"/>
          </a:xfrm>
          <a:prstGeom prst="ROUNDED_RECTANGLE">
            <a:avLst>
              <a:gd name="adj" fmla="val 9898"/>
            </a:avLst>
          </a:prstGeom>
          <a:solidFill>
            <a:srgbClr val="FFFFFF">
              <a:alpha val="0"/>
            </a:srgbClr>
          </a:solidFill>
          <a:ln w="28575">
            <a:solidFill>
              <a:srgbClr val="1E6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05991" y="2633727"/>
            <a:ext cx="274320" cy="274320"/>
          </a:xfrm>
          <a:prstGeom prst="OVAL">
            <a:avLst/>
          </a:prstGeom>
          <a:solidFill>
            <a:srgbClr val="1E6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5991" y="26337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528523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5285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" y="5257800"/>
            <a:ext cx="51951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Waiting → In process → Completed (you get an email when it’s done or rejected)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943600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943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" y="5916168"/>
            <a:ext cx="51951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countdown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team’s SLA deadline for your request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55868" y="5285232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3" name="Text 20"/>
          <p:cNvSpPr/>
          <p:nvPr/>
        </p:nvSpPr>
        <p:spPr>
          <a:xfrm>
            <a:off x="6255868" y="5285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5052" y="5257800"/>
            <a:ext cx="51951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date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computed from your line actions when you submit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55868" y="5943600"/>
            <a:ext cx="237744" cy="237744"/>
          </a:xfrm>
          <a:prstGeom prst="OVAL">
            <a:avLst/>
          </a:prstGeom>
          <a:solidFill>
            <a:srgbClr val="1E63D6"/>
          </a:solidFill>
          <a:ln/>
        </p:spPr>
      </p:sp>
      <p:sp>
        <p:nvSpPr>
          <p:cNvPr id="26" name="Text 23"/>
          <p:cNvSpPr/>
          <p:nvPr/>
        </p:nvSpPr>
        <p:spPr>
          <a:xfrm>
            <a:off x="6255868" y="5943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5052" y="5916168"/>
            <a:ext cx="51951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&amp; attachments</a:t>
            </a:r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talk to the team and add supporting files right on this page — any time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to know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5440680" cy="1554480"/>
          </a:xfrm>
          <a:prstGeom prst="ROUNDED_RECTANGLE">
            <a:avLst>
              <a:gd name="adj" fmla="val 5294"/>
            </a:avLst>
          </a:prstGeom>
          <a:solidFill>
            <a:srgbClr val="13314F"/>
          </a:solidFill>
          <a:ln w="9525">
            <a:solidFill>
              <a:srgbClr val="2E51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536192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" y="1883664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D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You’ll get the reason by email and on the request page. Click Reopen — it becomes your draft again; fix and resubmit.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440680" cy="1554480"/>
          </a:xfrm>
          <a:prstGeom prst="ROUNDED_RECTANGLE">
            <a:avLst>
              <a:gd name="adj" fmla="val 5294"/>
            </a:avLst>
          </a:prstGeom>
          <a:solidFill>
            <a:srgbClr val="13314F"/>
          </a:solidFill>
          <a:ln w="9525">
            <a:solidFill>
              <a:srgbClr val="2E51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536192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65392" y="1883664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D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images, emails, and Office files, up to 100 MB, max 6 per request. Picked files upload only when you press Upload — remove wrong picks freely before that.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154680"/>
            <a:ext cx="5440680" cy="1554480"/>
          </a:xfrm>
          <a:prstGeom prst="ROUNDED_RECTANGLE">
            <a:avLst>
              <a:gd name="adj" fmla="val 5294"/>
            </a:avLst>
          </a:prstGeom>
          <a:solidFill>
            <a:srgbClr val="13314F"/>
          </a:solidFill>
          <a:ln w="9525">
            <a:solidFill>
              <a:srgbClr val="2E51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319272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Descriptions matter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3666744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D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one-line description with your MOC or work-order number is the fastest way to get your request understood and done.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154680"/>
            <a:ext cx="5440680" cy="1554480"/>
          </a:xfrm>
          <a:prstGeom prst="ROUNDED_RECTANGLE">
            <a:avLst>
              <a:gd name="adj" fmla="val 5294"/>
            </a:avLst>
          </a:prstGeom>
          <a:solidFill>
            <a:srgbClr val="13314F"/>
          </a:solidFill>
          <a:ln w="9525">
            <a:solidFill>
              <a:srgbClr val="2E51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319272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are private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5392" y="3666744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D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you (and admins) can see your drafts. Everything else on the site is visible to the team.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or problems?  </a:t>
            </a:r>
            <a:pPr indent="0" marL="0">
              <a:buNone/>
            </a:pPr>
            <a:r>
              <a:rPr lang="en-US" sz="1400" dirty="0">
                <a:solidFill>
                  <a:srgbClr val="8FA8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Abdullah F. Alharbi · abdullah.hejaili@aramco.com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2026-07-19T17:31:34Z</dcterms:created>
  <dcterms:modified xsi:type="dcterms:W3CDTF">2026-07-19T17:31:34Z</dcterms:modified>
</cp:coreProperties>
</file>